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Overall adoption %</c:v>
                </c:pt>
              </c:strCache>
            </c:strRef>
          </c:tx>
          <c:spPr>
            <a:ln w="38100">
              <a:solidFill>
                <a:srgbClr val="18A0A6"/>
              </a:solidFill>
            </a:ln>
          </c:spPr>
          <c:marker>
            <c:symbol val="diamond"/>
            <c:size val="6"/>
            <c:spPr>
              <a:solidFill>
                <a:srgbClr val="18A0A6"/>
              </a:solidFill>
            </c:spPr>
          </c:marker>
          <c:cat>
            <c:strRef>
              <c:f>Sheet1!$A$2:$A$13</c:f>
              <c:strCache>
                <c:ptCount val="12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  <c:pt idx="11">
                  <c:v>2026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4.13</c:v>
                </c:pt>
                <c:pt idx="1">
                  <c:v>9.42</c:v>
                </c:pt>
                <c:pt idx="2">
                  <c:v>14.29</c:v>
                </c:pt>
                <c:pt idx="3">
                  <c:v>19.04</c:v>
                </c:pt>
                <c:pt idx="4">
                  <c:v>24.28</c:v>
                </c:pt>
                <c:pt idx="5">
                  <c:v>29.27</c:v>
                </c:pt>
                <c:pt idx="6">
                  <c:v>34.36</c:v>
                </c:pt>
                <c:pt idx="7">
                  <c:v>39.0</c:v>
                </c:pt>
                <c:pt idx="8">
                  <c:v>44.16</c:v>
                </c:pt>
                <c:pt idx="9">
                  <c:v>49.22</c:v>
                </c:pt>
                <c:pt idx="10">
                  <c:v>54.07</c:v>
                </c:pt>
                <c:pt idx="11">
                  <c:v>59.67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7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  <c:majorUnit val="10.0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F35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315200" y="1143000"/>
            <a:ext cx="4297680" cy="0"/>
          </a:xfrm>
          <a:prstGeom prst="line">
            <a:avLst/>
          </a:prstGeom>
          <a:ln w="8890">
            <a:solidFill>
              <a:srgbClr val="213D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7315200" y="1828800"/>
            <a:ext cx="4297680" cy="0"/>
          </a:xfrm>
          <a:prstGeom prst="line">
            <a:avLst/>
          </a:prstGeom>
          <a:ln w="8890">
            <a:solidFill>
              <a:srgbClr val="213D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315200" y="2514600"/>
            <a:ext cx="4297680" cy="0"/>
          </a:xfrm>
          <a:prstGeom prst="line">
            <a:avLst/>
          </a:prstGeom>
          <a:ln w="8890">
            <a:solidFill>
              <a:srgbClr val="213D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315200" y="3200400"/>
            <a:ext cx="4297680" cy="0"/>
          </a:xfrm>
          <a:prstGeom prst="line">
            <a:avLst/>
          </a:prstGeom>
          <a:ln w="8890">
            <a:solidFill>
              <a:srgbClr val="213D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315200" y="3886200"/>
            <a:ext cx="4297680" cy="0"/>
          </a:xfrm>
          <a:prstGeom prst="line">
            <a:avLst/>
          </a:prstGeom>
          <a:ln w="8890">
            <a:solidFill>
              <a:srgbClr val="213D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315200" y="4572000"/>
            <a:ext cx="4297680" cy="0"/>
          </a:xfrm>
          <a:prstGeom prst="line">
            <a:avLst/>
          </a:prstGeom>
          <a:ln w="8890">
            <a:solidFill>
              <a:srgbClr val="213D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315200" y="5257800"/>
            <a:ext cx="4297680" cy="0"/>
          </a:xfrm>
          <a:prstGeom prst="line">
            <a:avLst/>
          </a:prstGeom>
          <a:ln w="8890">
            <a:solidFill>
              <a:srgbClr val="213D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315200" y="914400"/>
            <a:ext cx="0" cy="4937760"/>
          </a:xfrm>
          <a:prstGeom prst="line">
            <a:avLst/>
          </a:prstGeom>
          <a:ln w="8890">
            <a:solidFill>
              <a:srgbClr val="213D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046720" y="914400"/>
            <a:ext cx="0" cy="4937760"/>
          </a:xfrm>
          <a:prstGeom prst="line">
            <a:avLst/>
          </a:prstGeom>
          <a:ln w="8890">
            <a:solidFill>
              <a:srgbClr val="213D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778240" y="914400"/>
            <a:ext cx="0" cy="4937760"/>
          </a:xfrm>
          <a:prstGeom prst="line">
            <a:avLst/>
          </a:prstGeom>
          <a:ln w="8890">
            <a:solidFill>
              <a:srgbClr val="213D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509760" y="914400"/>
            <a:ext cx="0" cy="4937760"/>
          </a:xfrm>
          <a:prstGeom prst="line">
            <a:avLst/>
          </a:prstGeom>
          <a:ln w="8890">
            <a:solidFill>
              <a:srgbClr val="213D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241280" y="914400"/>
            <a:ext cx="0" cy="4937760"/>
          </a:xfrm>
          <a:prstGeom prst="line">
            <a:avLst/>
          </a:prstGeom>
          <a:ln w="8890">
            <a:solidFill>
              <a:srgbClr val="213D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972800" y="914400"/>
            <a:ext cx="0" cy="4937760"/>
          </a:xfrm>
          <a:prstGeom prst="line">
            <a:avLst/>
          </a:prstGeom>
          <a:ln w="8890">
            <a:solidFill>
              <a:srgbClr val="213D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58368" y="502920"/>
            <a:ext cx="45720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8A0A6"/>
                </a:solidFill>
                <a:latin typeface="Aptos"/>
              </a:rPr>
              <a:t>GLOBAL AI IN EDUCATION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1078992"/>
            <a:ext cx="6400800" cy="1417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500" b="1">
                <a:solidFill>
                  <a:srgbClr val="FFFFFF"/>
                </a:solidFill>
                <a:latin typeface="Aptos"/>
              </a:rPr>
              <a:t>Education is changing.</a:t>
            </a:r>
            <a:br/>
            <a:r>
              <a:t>The data shows how.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788920"/>
            <a:ext cx="62179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900" b="0">
                <a:solidFill>
                  <a:srgbClr val="CDDDED"/>
                </a:solidFill>
                <a:latin typeface="Aptos"/>
              </a:rPr>
              <a:t>Global AI in Education Analytics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310128"/>
            <a:ext cx="530352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ABC2D8"/>
                </a:solidFill>
                <a:latin typeface="Aptos"/>
              </a:rPr>
              <a:t>Interactive Tableau project presentation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52360" y="1417320"/>
            <a:ext cx="1874519" cy="1234440"/>
          </a:xfrm>
          <a:prstGeom prst="roundRect">
            <a:avLst>
              <a:gd name="adj" fmla="val 12000"/>
            </a:avLst>
          </a:prstGeom>
          <a:solidFill>
            <a:srgbClr val="18314F"/>
          </a:solidFill>
          <a:ln>
            <a:solidFill>
              <a:srgbClr val="183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52360" y="1417320"/>
            <a:ext cx="1874519" cy="50292"/>
          </a:xfrm>
          <a:prstGeom prst="rect">
            <a:avLst/>
          </a:prstGeom>
          <a:solidFill>
            <a:srgbClr val="18A0A6"/>
          </a:solidFill>
          <a:ln>
            <a:solidFill>
              <a:srgbClr val="18A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16952" y="1581912"/>
            <a:ext cx="1545336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1,360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2130552"/>
            <a:ext cx="1545336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B5C9DD"/>
                </a:solidFill>
                <a:latin typeface="Aptos"/>
              </a:rPr>
              <a:t>records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55480" y="1417320"/>
            <a:ext cx="1874519" cy="1234440"/>
          </a:xfrm>
          <a:prstGeom prst="roundRect">
            <a:avLst>
              <a:gd name="adj" fmla="val 12000"/>
            </a:avLst>
          </a:prstGeom>
          <a:solidFill>
            <a:srgbClr val="18314F"/>
          </a:solidFill>
          <a:ln>
            <a:solidFill>
              <a:srgbClr val="183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555480" y="1417320"/>
            <a:ext cx="1874519" cy="50292"/>
          </a:xfrm>
          <a:prstGeom prst="rect">
            <a:avLst/>
          </a:prstGeom>
          <a:solidFill>
            <a:srgbClr val="4ECACF"/>
          </a:solidFill>
          <a:ln>
            <a:solidFill>
              <a:srgbClr val="4EC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20072" y="1581912"/>
            <a:ext cx="1545336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20072" y="2130552"/>
            <a:ext cx="1545336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B5C9DD"/>
                </a:solidFill>
                <a:latin typeface="Aptos"/>
              </a:rPr>
              <a:t>countries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52360" y="2880360"/>
            <a:ext cx="1874519" cy="1234440"/>
          </a:xfrm>
          <a:prstGeom prst="roundRect">
            <a:avLst>
              <a:gd name="adj" fmla="val 12000"/>
            </a:avLst>
          </a:prstGeom>
          <a:solidFill>
            <a:srgbClr val="18314F"/>
          </a:solidFill>
          <a:ln>
            <a:solidFill>
              <a:srgbClr val="183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52360" y="2880360"/>
            <a:ext cx="1874519" cy="50292"/>
          </a:xfrm>
          <a:prstGeom prst="rect">
            <a:avLst/>
          </a:prstGeom>
          <a:solidFill>
            <a:srgbClr val="3463AD"/>
          </a:solidFill>
          <a:ln>
            <a:solidFill>
              <a:srgbClr val="3463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16952" y="3044952"/>
            <a:ext cx="1545336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16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16952" y="3593591"/>
            <a:ext cx="1545336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B5C9DD"/>
                </a:solidFill>
                <a:latin typeface="Aptos"/>
              </a:rPr>
              <a:t>fields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55480" y="2880360"/>
            <a:ext cx="1874519" cy="1234440"/>
          </a:xfrm>
          <a:prstGeom prst="roundRect">
            <a:avLst>
              <a:gd name="adj" fmla="val 12000"/>
            </a:avLst>
          </a:prstGeom>
          <a:solidFill>
            <a:srgbClr val="18314F"/>
          </a:solidFill>
          <a:ln>
            <a:solidFill>
              <a:srgbClr val="183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55480" y="2880360"/>
            <a:ext cx="1874519" cy="50292"/>
          </a:xfrm>
          <a:prstGeom prst="rect">
            <a:avLst/>
          </a:prstGeom>
          <a:solidFill>
            <a:srgbClr val="EB8E43"/>
          </a:solidFill>
          <a:ln>
            <a:solidFill>
              <a:srgbClr val="EB8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20072" y="3044952"/>
            <a:ext cx="1545336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2015–26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20072" y="3593591"/>
            <a:ext cx="1545336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B5C9DD"/>
                </a:solidFill>
                <a:latin typeface="Aptos"/>
              </a:rPr>
              <a:t>period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7452360" y="4983480"/>
            <a:ext cx="365760" cy="228600"/>
          </a:xfrm>
          <a:prstGeom prst="line">
            <a:avLst/>
          </a:prstGeom>
          <a:ln w="38100">
            <a:solidFill>
              <a:srgbClr val="4ECA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7818120" y="4663440"/>
            <a:ext cx="365759" cy="320040"/>
          </a:xfrm>
          <a:prstGeom prst="line">
            <a:avLst/>
          </a:prstGeom>
          <a:ln w="38100">
            <a:solidFill>
              <a:srgbClr val="4ECA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183879" y="4389120"/>
            <a:ext cx="365761" cy="274320"/>
          </a:xfrm>
          <a:prstGeom prst="line">
            <a:avLst/>
          </a:prstGeom>
          <a:ln w="38100">
            <a:solidFill>
              <a:srgbClr val="4ECA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549640" y="4069080"/>
            <a:ext cx="365760" cy="320040"/>
          </a:xfrm>
          <a:prstGeom prst="line">
            <a:avLst/>
          </a:prstGeom>
          <a:ln w="38100">
            <a:solidFill>
              <a:srgbClr val="4ECA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915400" y="3794760"/>
            <a:ext cx="365760" cy="274320"/>
          </a:xfrm>
          <a:prstGeom prst="line">
            <a:avLst/>
          </a:prstGeom>
          <a:ln w="38100">
            <a:solidFill>
              <a:srgbClr val="4ECA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9281160" y="3566160"/>
            <a:ext cx="365760" cy="228600"/>
          </a:xfrm>
          <a:prstGeom prst="line">
            <a:avLst/>
          </a:prstGeom>
          <a:ln w="38100">
            <a:solidFill>
              <a:srgbClr val="4ECA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9646920" y="3246120"/>
            <a:ext cx="365760" cy="320040"/>
          </a:xfrm>
          <a:prstGeom prst="line">
            <a:avLst/>
          </a:prstGeom>
          <a:ln w="38100">
            <a:solidFill>
              <a:srgbClr val="4ECA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0012680" y="2880360"/>
            <a:ext cx="365760" cy="365760"/>
          </a:xfrm>
          <a:prstGeom prst="line">
            <a:avLst/>
          </a:prstGeom>
          <a:ln w="38100">
            <a:solidFill>
              <a:srgbClr val="4ECA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0378440" y="2560320"/>
            <a:ext cx="365760" cy="320040"/>
          </a:xfrm>
          <a:prstGeom prst="line">
            <a:avLst/>
          </a:prstGeom>
          <a:ln w="38100">
            <a:solidFill>
              <a:srgbClr val="4ECA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0744200" y="2240280"/>
            <a:ext cx="365760" cy="320040"/>
          </a:xfrm>
          <a:prstGeom prst="line">
            <a:avLst/>
          </a:prstGeom>
          <a:ln w="38100">
            <a:solidFill>
              <a:srgbClr val="4ECA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1109960" y="1920240"/>
            <a:ext cx="365760" cy="320040"/>
          </a:xfrm>
          <a:prstGeom prst="line">
            <a:avLst/>
          </a:prstGeom>
          <a:ln w="38100">
            <a:solidFill>
              <a:srgbClr val="4ECA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7402068" y="5161788"/>
            <a:ext cx="100584" cy="100584"/>
          </a:xfrm>
          <a:prstGeom prst="ellipse">
            <a:avLst/>
          </a:prstGeom>
          <a:solidFill>
            <a:srgbClr val="4ECACF"/>
          </a:solidFill>
          <a:ln>
            <a:solidFill>
              <a:srgbClr val="4EC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02068" y="5180076"/>
            <a:ext cx="100584" cy="8229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767828" y="4933188"/>
            <a:ext cx="100584" cy="100584"/>
          </a:xfrm>
          <a:prstGeom prst="ellipse">
            <a:avLst/>
          </a:prstGeom>
          <a:solidFill>
            <a:srgbClr val="4ECACF"/>
          </a:solidFill>
          <a:ln>
            <a:solidFill>
              <a:srgbClr val="4EC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67828" y="4951476"/>
            <a:ext cx="100584" cy="8229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133588" y="4613148"/>
            <a:ext cx="100584" cy="100584"/>
          </a:xfrm>
          <a:prstGeom prst="ellipse">
            <a:avLst/>
          </a:prstGeom>
          <a:solidFill>
            <a:srgbClr val="4ECACF"/>
          </a:solidFill>
          <a:ln>
            <a:solidFill>
              <a:srgbClr val="4EC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33588" y="4631436"/>
            <a:ext cx="100584" cy="8229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499348" y="4338828"/>
            <a:ext cx="100584" cy="100584"/>
          </a:xfrm>
          <a:prstGeom prst="ellipse">
            <a:avLst/>
          </a:prstGeom>
          <a:solidFill>
            <a:srgbClr val="4ECACF"/>
          </a:solidFill>
          <a:ln>
            <a:solidFill>
              <a:srgbClr val="4EC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99348" y="4357116"/>
            <a:ext cx="100584" cy="8229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865108" y="4018788"/>
            <a:ext cx="100584" cy="100584"/>
          </a:xfrm>
          <a:prstGeom prst="ellipse">
            <a:avLst/>
          </a:prstGeom>
          <a:solidFill>
            <a:srgbClr val="4ECACF"/>
          </a:solidFill>
          <a:ln>
            <a:solidFill>
              <a:srgbClr val="4EC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865108" y="4037076"/>
            <a:ext cx="100584" cy="8229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9230868" y="3744468"/>
            <a:ext cx="100584" cy="100584"/>
          </a:xfrm>
          <a:prstGeom prst="ellipse">
            <a:avLst/>
          </a:prstGeom>
          <a:solidFill>
            <a:srgbClr val="4ECACF"/>
          </a:solidFill>
          <a:ln>
            <a:solidFill>
              <a:srgbClr val="4EC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30868" y="3762756"/>
            <a:ext cx="100584" cy="8229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596628" y="3515868"/>
            <a:ext cx="100584" cy="100584"/>
          </a:xfrm>
          <a:prstGeom prst="ellipse">
            <a:avLst/>
          </a:prstGeom>
          <a:solidFill>
            <a:srgbClr val="4ECACF"/>
          </a:solidFill>
          <a:ln>
            <a:solidFill>
              <a:srgbClr val="4EC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596628" y="3534156"/>
            <a:ext cx="100584" cy="8229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9962388" y="3195827"/>
            <a:ext cx="100584" cy="100584"/>
          </a:xfrm>
          <a:prstGeom prst="ellipse">
            <a:avLst/>
          </a:prstGeom>
          <a:solidFill>
            <a:srgbClr val="4ECACF"/>
          </a:solidFill>
          <a:ln>
            <a:solidFill>
              <a:srgbClr val="4EC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962388" y="3214115"/>
            <a:ext cx="100584" cy="8229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328148" y="2830068"/>
            <a:ext cx="100584" cy="100584"/>
          </a:xfrm>
          <a:prstGeom prst="ellipse">
            <a:avLst/>
          </a:prstGeom>
          <a:solidFill>
            <a:srgbClr val="4ECACF"/>
          </a:solidFill>
          <a:ln>
            <a:solidFill>
              <a:srgbClr val="4EC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328148" y="2848356"/>
            <a:ext cx="100584" cy="8229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693908" y="2510027"/>
            <a:ext cx="100584" cy="100584"/>
          </a:xfrm>
          <a:prstGeom prst="ellipse">
            <a:avLst/>
          </a:prstGeom>
          <a:solidFill>
            <a:srgbClr val="4ECACF"/>
          </a:solidFill>
          <a:ln>
            <a:solidFill>
              <a:srgbClr val="4EC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693908" y="2528315"/>
            <a:ext cx="100584" cy="8229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1059668" y="2189988"/>
            <a:ext cx="100584" cy="100584"/>
          </a:xfrm>
          <a:prstGeom prst="ellipse">
            <a:avLst/>
          </a:prstGeom>
          <a:solidFill>
            <a:srgbClr val="4ECACF"/>
          </a:solidFill>
          <a:ln>
            <a:solidFill>
              <a:srgbClr val="4EC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1059668" y="2208276"/>
            <a:ext cx="100584" cy="8229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1425428" y="1869948"/>
            <a:ext cx="100584" cy="100584"/>
          </a:xfrm>
          <a:prstGeom prst="ellipse">
            <a:avLst/>
          </a:prstGeom>
          <a:solidFill>
            <a:srgbClr val="4ECACF"/>
          </a:solidFill>
          <a:ln>
            <a:solidFill>
              <a:srgbClr val="4EC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425428" y="1888236"/>
            <a:ext cx="100584" cy="8229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60920" y="5394960"/>
            <a:ext cx="9144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AAC3DA"/>
                </a:solidFill>
                <a:latin typeface="Aptos"/>
              </a:rPr>
              <a:t>4.1%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835640" y="1691640"/>
            <a:ext cx="9144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4ECACF"/>
                </a:solidFill>
                <a:latin typeface="Aptos"/>
              </a:rPr>
              <a:t>59.7%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4360" y="6547104"/>
            <a:ext cx="457200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9EB5CD"/>
                </a:solidFill>
                <a:latin typeface="Aptos"/>
              </a:rPr>
              <a:t>01  /  GLOBAL AI IN EDUCATION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9052560" y="6629400"/>
            <a:ext cx="2514600" cy="0"/>
          </a:xfrm>
          <a:prstGeom prst="line">
            <a:avLst/>
          </a:prstGeom>
          <a:ln w="10160">
            <a:solidFill>
              <a:srgbClr val="9EB5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32004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8A0A6"/>
                </a:solidFill>
                <a:latin typeface="Aptos"/>
              </a:rPr>
              <a:t>01 /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789920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E1F35"/>
                </a:solidFill>
                <a:latin typeface="Aptos"/>
              </a:rPr>
              <a:t>Why AI in education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07008"/>
            <a:ext cx="10515600" cy="3657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B6C7E"/>
                </a:solidFill>
                <a:latin typeface="Aptos"/>
              </a:rPr>
              <a:t>A compact view of the problem, the opportunity, and what this project measures.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3657600" cy="4160520"/>
          </a:xfrm>
          <a:prstGeom prst="roundRect">
            <a:avLst>
              <a:gd name="adj" fmla="val 12000"/>
            </a:avLst>
          </a:prstGeom>
          <a:solidFill>
            <a:srgbClr val="0E1F35"/>
          </a:solidFill>
          <a:ln>
            <a:solidFill>
              <a:srgbClr val="0E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1828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8A0A6"/>
                </a:solidFill>
                <a:latin typeface="Aptos"/>
              </a:rPr>
              <a:t>THE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2926080" cy="1417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Where is AI adoption</a:t>
            </a:r>
            <a:br/>
            <a:r>
              <a:t>growing — and what</a:t>
            </a:r>
            <a:br/>
            <a:r>
              <a:t>shapes the gap?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160520"/>
            <a:ext cx="2880360" cy="10515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CADBEA"/>
                </a:solidFill>
                <a:latin typeface="Aptos"/>
              </a:rPr>
              <a:t>The analysis compares students, teachers and schools while connecting adoption with infrastructure, policy, curriculum and equity.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828800"/>
            <a:ext cx="205740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17720" y="1828800"/>
            <a:ext cx="50292" cy="1600200"/>
          </a:xfrm>
          <a:prstGeom prst="rect">
            <a:avLst/>
          </a:prstGeom>
          <a:solidFill>
            <a:srgbClr val="18A0A6"/>
          </a:solidFill>
          <a:ln>
            <a:solidFill>
              <a:srgbClr val="18A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1993392"/>
            <a:ext cx="173736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E1F35"/>
                </a:solidFill>
                <a:latin typeface="Aptos"/>
              </a:rPr>
              <a:t>ADOPTION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350008"/>
            <a:ext cx="1737360" cy="9601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12E3D"/>
                </a:solidFill>
                <a:latin typeface="Aptos"/>
              </a:rPr>
              <a:t>Student, teacher and school usage.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1828800"/>
            <a:ext cx="205740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03720" y="1828800"/>
            <a:ext cx="50292" cy="1600200"/>
          </a:xfrm>
          <a:prstGeom prst="rect">
            <a:avLst/>
          </a:prstGeom>
          <a:solidFill>
            <a:srgbClr val="3463AD"/>
          </a:solidFill>
          <a:ln>
            <a:solidFill>
              <a:srgbClr val="3463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86600" y="1993392"/>
            <a:ext cx="173736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E1F35"/>
                </a:solidFill>
                <a:latin typeface="Aptos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2350008"/>
            <a:ext cx="1737360" cy="9601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12E3D"/>
                </a:solidFill>
                <a:latin typeface="Aptos"/>
              </a:rPr>
              <a:t>Internet, education index, policy and curriculum.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20" y="1828800"/>
            <a:ext cx="205740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89720" y="1828800"/>
            <a:ext cx="50292" cy="1600200"/>
          </a:xfrm>
          <a:prstGeom prst="rect">
            <a:avLst/>
          </a:prstGeom>
          <a:solidFill>
            <a:srgbClr val="EB8E43"/>
          </a:solidFill>
          <a:ln>
            <a:solidFill>
              <a:srgbClr val="EB8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1993392"/>
            <a:ext cx="173736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E1F35"/>
                </a:solidFill>
                <a:latin typeface="Aptos"/>
              </a:rPr>
              <a:t>EQUITY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2350008"/>
            <a:ext cx="1737360" cy="9601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12E3D"/>
                </a:solidFill>
                <a:latin typeface="Aptos"/>
              </a:rPr>
              <a:t>Urban-rural and gender gaps.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7720" y="3794760"/>
            <a:ext cx="662940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2040" y="4069080"/>
            <a:ext cx="1828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8A0A6"/>
                </a:solidFill>
                <a:latin typeface="Aptos"/>
              </a:rPr>
              <a:t>PROJECT GOAL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4407408"/>
            <a:ext cx="576072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E1F35"/>
                </a:solidFill>
                <a:latin typeface="Aptos"/>
              </a:rPr>
              <a:t>Use Tableau to reveal adoption patterns and support data-driven decisions.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47104"/>
            <a:ext cx="457200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8796A4"/>
                </a:solidFill>
                <a:latin typeface="Aptos"/>
              </a:rPr>
              <a:t>02  /  GLOBAL AI IN EDUCATION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052560" y="6629400"/>
            <a:ext cx="2514600" cy="0"/>
          </a:xfrm>
          <a:prstGeom prst="line">
            <a:avLst/>
          </a:prstGeom>
          <a:ln w="10160">
            <a:solidFill>
              <a:srgbClr val="8796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32004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8A0A6"/>
                </a:solidFill>
                <a:latin typeface="Aptos"/>
              </a:rPr>
              <a:t>02 /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789920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E1F35"/>
                </a:solidFill>
                <a:latin typeface="Aptos"/>
              </a:rPr>
              <a:t>The dataset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07008"/>
            <a:ext cx="10515600" cy="3657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B6C7E"/>
                </a:solidFill>
                <a:latin typeface="Aptos"/>
              </a:rPr>
              <a:t>One cleaned source, with adoption, context and equity variables.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205740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2057400" cy="50292"/>
          </a:xfrm>
          <a:prstGeom prst="rect">
            <a:avLst/>
          </a:prstGeom>
          <a:solidFill>
            <a:srgbClr val="18A0A6"/>
          </a:solidFill>
          <a:ln>
            <a:solidFill>
              <a:srgbClr val="18A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947672"/>
            <a:ext cx="1728216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E1F35"/>
                </a:solidFill>
                <a:latin typeface="Aptos"/>
              </a:rPr>
              <a:t>1,360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496312"/>
            <a:ext cx="1728216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5B6C7E"/>
                </a:solidFill>
                <a:latin typeface="Aptos"/>
              </a:rPr>
              <a:t>records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1783080"/>
            <a:ext cx="205740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88920" y="1783080"/>
            <a:ext cx="2057400" cy="50292"/>
          </a:xfrm>
          <a:prstGeom prst="rect">
            <a:avLst/>
          </a:prstGeom>
          <a:solidFill>
            <a:srgbClr val="3463AD"/>
          </a:solidFill>
          <a:ln>
            <a:solidFill>
              <a:srgbClr val="3463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53512" y="1947672"/>
            <a:ext cx="1728216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E1F35"/>
                </a:solidFill>
                <a:latin typeface="Aptos"/>
              </a:rPr>
              <a:t>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53512" y="2496312"/>
            <a:ext cx="1728216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5B6C7E"/>
                </a:solidFill>
                <a:latin typeface="Aptos"/>
              </a:rPr>
              <a:t>fields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1783080"/>
            <a:ext cx="205740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83480" y="1783080"/>
            <a:ext cx="2057400" cy="50292"/>
          </a:xfrm>
          <a:prstGeom prst="rect">
            <a:avLst/>
          </a:prstGeom>
          <a:solidFill>
            <a:srgbClr val="EB8E43"/>
          </a:solidFill>
          <a:ln>
            <a:solidFill>
              <a:srgbClr val="EB8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48072" y="1947672"/>
            <a:ext cx="1728216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E1F35"/>
                </a:solidFill>
                <a:latin typeface="Aptos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48072" y="2496312"/>
            <a:ext cx="1728216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5B6C7E"/>
                </a:solidFill>
                <a:latin typeface="Aptos"/>
              </a:rPr>
              <a:t>countries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78040" y="1783080"/>
            <a:ext cx="205740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78040" y="1783080"/>
            <a:ext cx="2057400" cy="50292"/>
          </a:xfrm>
          <a:prstGeom prst="rect">
            <a:avLst/>
          </a:prstGeom>
          <a:solidFill>
            <a:srgbClr val="389769"/>
          </a:solidFill>
          <a:ln>
            <a:solidFill>
              <a:srgbClr val="389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42631" y="1947672"/>
            <a:ext cx="1728216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E1F35"/>
                </a:solidFill>
                <a:latin typeface="Aptos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42631" y="2496312"/>
            <a:ext cx="1728216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5B6C7E"/>
                </a:solidFill>
                <a:latin typeface="Aptos"/>
              </a:rPr>
              <a:t>regions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72600" y="1783080"/>
            <a:ext cx="205740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372600" y="1783080"/>
            <a:ext cx="2057400" cy="50292"/>
          </a:xfrm>
          <a:prstGeom prst="rect">
            <a:avLst/>
          </a:prstGeom>
          <a:solidFill>
            <a:srgbClr val="4ECACF"/>
          </a:solidFill>
          <a:ln>
            <a:solidFill>
              <a:srgbClr val="4EC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37192" y="1947672"/>
            <a:ext cx="1728216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E1F35"/>
                </a:solidFill>
                <a:latin typeface="Aptos"/>
              </a:rPr>
              <a:t>2015–2026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7192" y="2496312"/>
            <a:ext cx="1728216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5B6C7E"/>
                </a:solidFill>
                <a:latin typeface="Aptos"/>
              </a:rPr>
              <a:t>period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337560"/>
            <a:ext cx="333756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3337560"/>
            <a:ext cx="50292" cy="1965960"/>
          </a:xfrm>
          <a:prstGeom prst="rect">
            <a:avLst/>
          </a:prstGeom>
          <a:solidFill>
            <a:srgbClr val="18A0A6"/>
          </a:solidFill>
          <a:ln>
            <a:solidFill>
              <a:srgbClr val="18A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3502152"/>
            <a:ext cx="301752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E1F35"/>
                </a:solidFill>
                <a:latin typeface="Aptos"/>
              </a:rPr>
              <a:t>ADOPTION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3858768"/>
            <a:ext cx="3017520" cy="1325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12E3D"/>
                </a:solidFill>
                <a:latin typeface="Aptos"/>
              </a:rPr>
              <a:t>Student adoption</a:t>
            </a:r>
            <a:br/>
            <a:r>
              <a:t>Teacher adoption</a:t>
            </a:r>
            <a:br/>
            <a:r>
              <a:t>School adoption</a:t>
            </a:r>
            <a:br/>
            <a:r>
              <a:t>Average daily AI minutes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0" y="3337560"/>
            <a:ext cx="333756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14800" y="3337560"/>
            <a:ext cx="50292" cy="1965960"/>
          </a:xfrm>
          <a:prstGeom prst="rect">
            <a:avLst/>
          </a:prstGeom>
          <a:solidFill>
            <a:srgbClr val="3463AD"/>
          </a:solidFill>
          <a:ln>
            <a:solidFill>
              <a:srgbClr val="3463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7680" y="3502152"/>
            <a:ext cx="301752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E1F35"/>
                </a:solidFill>
                <a:latin typeface="Aptos"/>
              </a:rPr>
              <a:t>CONTEXT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3858768"/>
            <a:ext cx="3017520" cy="1325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12E3D"/>
                </a:solidFill>
                <a:latin typeface="Aptos"/>
              </a:rPr>
              <a:t>Internet penetration</a:t>
            </a:r>
            <a:br/>
            <a:r>
              <a:t>Education index</a:t>
            </a:r>
            <a:br/>
            <a:r>
              <a:t>Government AI policy</a:t>
            </a:r>
            <a:br/>
            <a:r>
              <a:t>AI in curriculum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35240" y="3337560"/>
            <a:ext cx="333756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635240" y="3337560"/>
            <a:ext cx="50292" cy="1965960"/>
          </a:xfrm>
          <a:prstGeom prst="rect">
            <a:avLst/>
          </a:prstGeom>
          <a:solidFill>
            <a:srgbClr val="EB8E43"/>
          </a:solidFill>
          <a:ln>
            <a:solidFill>
              <a:srgbClr val="EB8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18119" y="3502152"/>
            <a:ext cx="301752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E1F35"/>
                </a:solidFill>
                <a:latin typeface="Aptos"/>
              </a:rPr>
              <a:t>EQUITY + ID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18119" y="3858768"/>
            <a:ext cx="3017520" cy="1325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12E3D"/>
                </a:solidFill>
                <a:latin typeface="Aptos"/>
              </a:rPr>
              <a:t>Urban usage</a:t>
            </a:r>
            <a:br/>
            <a:r>
              <a:t>Rural usage</a:t>
            </a:r>
            <a:br/>
            <a:r>
              <a:t>Gender gap</a:t>
            </a:r>
            <a:br/>
            <a:r>
              <a:t>Year / month / country / region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5623560"/>
            <a:ext cx="10378440" cy="502920"/>
          </a:xfrm>
          <a:prstGeom prst="roundRect">
            <a:avLst>
              <a:gd name="adj" fmla="val 12000"/>
            </a:avLst>
          </a:prstGeom>
          <a:solidFill>
            <a:srgbClr val="0E1F35"/>
          </a:solidFill>
          <a:ln>
            <a:solidFill>
              <a:srgbClr val="0E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5751576"/>
            <a:ext cx="45720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SOURCE  •  Global AI in Education.csv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5751576"/>
            <a:ext cx="54864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C7D8E8"/>
                </a:solidFill>
                <a:latin typeface="Aptos"/>
              </a:rPr>
              <a:t>Same year–month–country rows were retained because they represent different valid measurements.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6547104"/>
            <a:ext cx="457200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8796A4"/>
                </a:solidFill>
                <a:latin typeface="Aptos"/>
              </a:rPr>
              <a:t>03  /  GLOBAL AI IN EDUCATION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052560" y="6629400"/>
            <a:ext cx="2514600" cy="0"/>
          </a:xfrm>
          <a:prstGeom prst="line">
            <a:avLst/>
          </a:prstGeom>
          <a:ln w="10160">
            <a:solidFill>
              <a:srgbClr val="8796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32004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8A0A6"/>
                </a:solidFill>
                <a:latin typeface="Aptos"/>
              </a:rPr>
              <a:t>03 /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789920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E1F35"/>
                </a:solidFill>
                <a:latin typeface="Aptos"/>
              </a:rPr>
              <a:t>From raw rows to analysis-ready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07008"/>
            <a:ext cx="10515600" cy="3657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B6C7E"/>
                </a:solidFill>
                <a:latin typeface="Aptos"/>
              </a:rPr>
              <a:t>The cleaning decisions matter because they define what the dashboard can safely say.</a:t>
            </a:r>
          </a:p>
        </p:txBody>
      </p:sp>
      <p:sp>
        <p:nvSpPr>
          <p:cNvPr id="5" name="Oval 4"/>
          <p:cNvSpPr/>
          <p:nvPr/>
        </p:nvSpPr>
        <p:spPr>
          <a:xfrm>
            <a:off x="594360" y="1828800"/>
            <a:ext cx="566928" cy="566928"/>
          </a:xfrm>
          <a:prstGeom prst="ellipse">
            <a:avLst/>
          </a:prstGeom>
          <a:solidFill>
            <a:srgbClr val="18A0A6"/>
          </a:solidFill>
          <a:ln>
            <a:solidFill>
              <a:srgbClr val="18A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847088"/>
            <a:ext cx="566928" cy="54864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61288" y="2112264"/>
            <a:ext cx="1627632" cy="0"/>
          </a:xfrm>
          <a:prstGeom prst="line">
            <a:avLst/>
          </a:prstGeom>
          <a:ln w="25400">
            <a:solidFill>
              <a:srgbClr val="E0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94360" y="2578608"/>
            <a:ext cx="18288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E1F35"/>
                </a:solidFill>
                <a:latin typeface="Aptos"/>
              </a:rPr>
              <a:t>Inspect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07792"/>
            <a:ext cx="1828800" cy="7772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212E3D"/>
                </a:solidFill>
                <a:latin typeface="Aptos"/>
              </a:rPr>
              <a:t>Types, ranges, categories</a:t>
            </a:r>
          </a:p>
        </p:txBody>
      </p:sp>
      <p:sp>
        <p:nvSpPr>
          <p:cNvPr id="10" name="Oval 9"/>
          <p:cNvSpPr/>
          <p:nvPr/>
        </p:nvSpPr>
        <p:spPr>
          <a:xfrm>
            <a:off x="2788920" y="1828800"/>
            <a:ext cx="566928" cy="566928"/>
          </a:xfrm>
          <a:prstGeom prst="ellipse">
            <a:avLst/>
          </a:prstGeom>
          <a:solidFill>
            <a:srgbClr val="18A0A6"/>
          </a:solidFill>
          <a:ln>
            <a:solidFill>
              <a:srgbClr val="18A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1847088"/>
            <a:ext cx="566928" cy="54864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355848" y="2112264"/>
            <a:ext cx="1627632" cy="0"/>
          </a:xfrm>
          <a:prstGeom prst="line">
            <a:avLst/>
          </a:prstGeom>
          <a:ln w="25400">
            <a:solidFill>
              <a:srgbClr val="E0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788920" y="2578608"/>
            <a:ext cx="18288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E1F35"/>
                </a:solidFill>
                <a:latin typeface="Aptos"/>
              </a:rPr>
              <a:t>Standardize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907792"/>
            <a:ext cx="1828800" cy="7772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212E3D"/>
                </a:solidFill>
                <a:latin typeface="Aptos"/>
              </a:rPr>
              <a:t>Text values such as India / india</a:t>
            </a:r>
          </a:p>
        </p:txBody>
      </p:sp>
      <p:sp>
        <p:nvSpPr>
          <p:cNvPr id="15" name="Oval 14"/>
          <p:cNvSpPr/>
          <p:nvPr/>
        </p:nvSpPr>
        <p:spPr>
          <a:xfrm>
            <a:off x="4983480" y="1828800"/>
            <a:ext cx="566928" cy="566928"/>
          </a:xfrm>
          <a:prstGeom prst="ellipse">
            <a:avLst/>
          </a:prstGeom>
          <a:solidFill>
            <a:srgbClr val="18A0A6"/>
          </a:solidFill>
          <a:ln>
            <a:solidFill>
              <a:srgbClr val="18A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83480" y="1847088"/>
            <a:ext cx="566928" cy="54864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550408" y="2112264"/>
            <a:ext cx="1627632" cy="0"/>
          </a:xfrm>
          <a:prstGeom prst="line">
            <a:avLst/>
          </a:prstGeom>
          <a:ln w="25400">
            <a:solidFill>
              <a:srgbClr val="E0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983480" y="2578608"/>
            <a:ext cx="18288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E1F35"/>
                </a:solidFill>
                <a:latin typeface="Aptos"/>
              </a:rPr>
              <a:t>Handle missing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2907792"/>
            <a:ext cx="1828800" cy="7772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212E3D"/>
                </a:solidFill>
                <a:latin typeface="Aptos"/>
              </a:rPr>
              <a:t>441 policy values → “Not Available”</a:t>
            </a:r>
          </a:p>
        </p:txBody>
      </p:sp>
      <p:sp>
        <p:nvSpPr>
          <p:cNvPr id="20" name="Oval 19"/>
          <p:cNvSpPr/>
          <p:nvPr/>
        </p:nvSpPr>
        <p:spPr>
          <a:xfrm>
            <a:off x="7178040" y="1828800"/>
            <a:ext cx="566928" cy="566928"/>
          </a:xfrm>
          <a:prstGeom prst="ellipse">
            <a:avLst/>
          </a:prstGeom>
          <a:solidFill>
            <a:srgbClr val="18A0A6"/>
          </a:solidFill>
          <a:ln>
            <a:solidFill>
              <a:srgbClr val="18A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78040" y="1847088"/>
            <a:ext cx="566928" cy="54864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44967" y="2112264"/>
            <a:ext cx="1627633" cy="0"/>
          </a:xfrm>
          <a:prstGeom prst="line">
            <a:avLst/>
          </a:prstGeom>
          <a:ln w="25400">
            <a:solidFill>
              <a:srgbClr val="E0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178040" y="2578608"/>
            <a:ext cx="18288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E1F35"/>
                </a:solidFill>
                <a:latin typeface="Aptos"/>
              </a:rPr>
              <a:t>Calculate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2907792"/>
            <a:ext cx="1828800" cy="7772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212E3D"/>
                </a:solidFill>
                <a:latin typeface="Aptos"/>
              </a:rPr>
              <a:t>Date, adoption and gap measures</a:t>
            </a:r>
          </a:p>
        </p:txBody>
      </p:sp>
      <p:sp>
        <p:nvSpPr>
          <p:cNvPr id="25" name="Oval 24"/>
          <p:cNvSpPr/>
          <p:nvPr/>
        </p:nvSpPr>
        <p:spPr>
          <a:xfrm>
            <a:off x="9372600" y="1828800"/>
            <a:ext cx="566928" cy="566928"/>
          </a:xfrm>
          <a:prstGeom prst="ellipse">
            <a:avLst/>
          </a:prstGeom>
          <a:solidFill>
            <a:srgbClr val="EB8E43"/>
          </a:solidFill>
          <a:ln>
            <a:solidFill>
              <a:srgbClr val="EB8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72600" y="1847088"/>
            <a:ext cx="566928" cy="54864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2578608"/>
            <a:ext cx="18288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E1F35"/>
                </a:solidFill>
                <a:latin typeface="Aptos"/>
              </a:rPr>
              <a:t>Validate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2907792"/>
            <a:ext cx="1828800" cy="7772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212E3D"/>
                </a:solidFill>
                <a:latin typeface="Aptos"/>
              </a:rPr>
              <a:t>Percentages, duplicate logic, ranges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4069080"/>
            <a:ext cx="10378440" cy="1508760"/>
          </a:xfrm>
          <a:prstGeom prst="roundRect">
            <a:avLst>
              <a:gd name="adj" fmla="val 12000"/>
            </a:avLst>
          </a:prstGeom>
          <a:solidFill>
            <a:srgbClr val="0E1F35"/>
          </a:solidFill>
          <a:ln>
            <a:solidFill>
              <a:srgbClr val="0E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4325112"/>
            <a:ext cx="27432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8A0A6"/>
                </a:solidFill>
                <a:latin typeface="Aptos"/>
              </a:rPr>
              <a:t>TABLEAU CALCULATED FIELDS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4681728"/>
            <a:ext cx="256032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Overall AI Adoption 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71800" y="4681728"/>
            <a:ext cx="338328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CDDCEB"/>
                </a:solidFill>
                <a:latin typeface="Aptos"/>
              </a:rPr>
              <a:t>= average of student + teacher + school adoption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4681728"/>
            <a:ext cx="384048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CDDCEB"/>
                </a:solidFill>
                <a:latin typeface="Aptos"/>
              </a:rPr>
              <a:t>Urban–Rural • Student–Teacher • Student–School gaps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5074920"/>
            <a:ext cx="7955279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A0BAD0"/>
                </a:solidFill>
                <a:latin typeface="Aptos"/>
              </a:rPr>
              <a:t>Note: Overall Adoption is a project-specific measure, not an official index.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47104"/>
            <a:ext cx="457200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8796A4"/>
                </a:solidFill>
                <a:latin typeface="Aptos"/>
              </a:rPr>
              <a:t>04  /  GLOBAL AI IN EDUCATION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052560" y="6629400"/>
            <a:ext cx="2514600" cy="0"/>
          </a:xfrm>
          <a:prstGeom prst="line">
            <a:avLst/>
          </a:prstGeom>
          <a:ln w="10160">
            <a:solidFill>
              <a:srgbClr val="8796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32004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8A0A6"/>
                </a:solidFill>
                <a:latin typeface="Aptos"/>
              </a:rPr>
              <a:t>04 / TABLEAU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789920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E1F35"/>
                </a:solidFill>
                <a:latin typeface="Aptos"/>
              </a:rPr>
              <a:t>Five dashboards, one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07008"/>
            <a:ext cx="10515600" cy="3657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B6C7E"/>
                </a:solidFill>
                <a:latin typeface="Aptos"/>
              </a:rPr>
              <a:t>The workbook moves from overview → comparison → tools → policy → equity.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5349240" cy="141732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95528" y="2048256"/>
            <a:ext cx="566928" cy="566928"/>
          </a:xfrm>
          <a:prstGeom prst="ellipse">
            <a:avLst/>
          </a:prstGeom>
          <a:solidFill>
            <a:srgbClr val="18A0A6"/>
          </a:solidFill>
          <a:ln>
            <a:solidFill>
              <a:srgbClr val="18A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066544"/>
            <a:ext cx="566928" cy="54864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011680"/>
            <a:ext cx="41148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E1F35"/>
                </a:solidFill>
                <a:latin typeface="Aptos"/>
              </a:rPr>
              <a:t>GLOBAL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395728"/>
            <a:ext cx="4069080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212E3D"/>
                </a:solidFill>
                <a:latin typeface="Aptos"/>
              </a:rPr>
              <a:t>KPIs • adoption trend • monthly trend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349240" cy="141732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19088" y="2048256"/>
            <a:ext cx="566928" cy="566928"/>
          </a:xfrm>
          <a:prstGeom prst="ellipse">
            <a:avLst/>
          </a:prstGeom>
          <a:solidFill>
            <a:srgbClr val="3463AD"/>
          </a:solidFill>
          <a:ln>
            <a:solidFill>
              <a:srgbClr val="3463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2066544"/>
            <a:ext cx="566928" cy="54864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011680"/>
            <a:ext cx="41148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E1F35"/>
                </a:solidFill>
                <a:latin typeface="Aptos"/>
              </a:rPr>
              <a:t>REGIONAL &amp; COUNTRY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395728"/>
            <a:ext cx="4069080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212E3D"/>
                </a:solidFill>
                <a:latin typeface="Aptos"/>
              </a:rPr>
              <a:t>Region • country • student vs teacher • urban vs rural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794760"/>
            <a:ext cx="5349240" cy="141732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95528" y="4014216"/>
            <a:ext cx="566928" cy="566928"/>
          </a:xfrm>
          <a:prstGeom prst="ellipse">
            <a:avLst/>
          </a:prstGeom>
          <a:solidFill>
            <a:srgbClr val="EB8E43"/>
          </a:solidFill>
          <a:ln>
            <a:solidFill>
              <a:srgbClr val="EB8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4032504"/>
            <a:ext cx="566928" cy="54864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977640"/>
            <a:ext cx="41148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E1F35"/>
                </a:solidFill>
                <a:latin typeface="Aptos"/>
              </a:rPr>
              <a:t>AI TOOLS &amp; MARKET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61688"/>
            <a:ext cx="4069080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212E3D"/>
                </a:solidFill>
                <a:latin typeface="Aptos"/>
              </a:rPr>
              <a:t>Tool frequency • region • daily usage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794760"/>
            <a:ext cx="5349240" cy="141732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19088" y="4014216"/>
            <a:ext cx="566928" cy="566928"/>
          </a:xfrm>
          <a:prstGeom prst="ellipse">
            <a:avLst/>
          </a:prstGeom>
          <a:solidFill>
            <a:srgbClr val="389769"/>
          </a:solidFill>
          <a:ln>
            <a:solidFill>
              <a:srgbClr val="389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4032504"/>
            <a:ext cx="566928" cy="54864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3977640"/>
            <a:ext cx="41148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E1F35"/>
                </a:solidFill>
                <a:latin typeface="Aptos"/>
              </a:rPr>
              <a:t>POLICY + INFRASTRUCTURE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4361688"/>
            <a:ext cx="4069080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212E3D"/>
                </a:solidFill>
                <a:latin typeface="Aptos"/>
              </a:rPr>
              <a:t>Policy • curriculum • internet • education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01568" y="5440680"/>
            <a:ext cx="5349240" cy="141732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602736" y="5660136"/>
            <a:ext cx="566928" cy="566928"/>
          </a:xfrm>
          <a:prstGeom prst="ellipse">
            <a:avLst/>
          </a:prstGeom>
          <a:solidFill>
            <a:srgbClr val="4ECACF"/>
          </a:solidFill>
          <a:ln>
            <a:solidFill>
              <a:srgbClr val="4EC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02736" y="5678424"/>
            <a:ext cx="566928" cy="54864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5623560"/>
            <a:ext cx="41148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E1F35"/>
                </a:solidFill>
                <a:latin typeface="Aptos"/>
              </a:rPr>
              <a:t>EQUITY + ACCESSIBILITY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15968" y="6007608"/>
            <a:ext cx="4069080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212E3D"/>
                </a:solidFill>
                <a:latin typeface="Aptos"/>
              </a:rPr>
              <a:t>Gender gap • urban-rural gap • daily usage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246120" y="3246120"/>
            <a:ext cx="960120" cy="2057400"/>
          </a:xfrm>
          <a:prstGeom prst="line">
            <a:avLst/>
          </a:prstGeom>
          <a:ln w="25400">
            <a:solidFill>
              <a:srgbClr val="E0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8001000" y="3246120"/>
            <a:ext cx="868680" cy="2057400"/>
          </a:xfrm>
          <a:prstGeom prst="line">
            <a:avLst/>
          </a:prstGeom>
          <a:ln w="25400">
            <a:solidFill>
              <a:srgbClr val="E0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94360" y="6547104"/>
            <a:ext cx="457200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8796A4"/>
                </a:solidFill>
                <a:latin typeface="Aptos"/>
              </a:rPr>
              <a:t>05  /  GLOBAL AI IN EDUCATION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052560" y="6629400"/>
            <a:ext cx="2514600" cy="0"/>
          </a:xfrm>
          <a:prstGeom prst="line">
            <a:avLst/>
          </a:prstGeom>
          <a:ln w="10160">
            <a:solidFill>
              <a:srgbClr val="8796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32004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8A0A6"/>
                </a:solidFill>
                <a:latin typeface="Aptos"/>
              </a:rPr>
              <a:t>05 /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789920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E1F35"/>
                </a:solidFill>
                <a:latin typeface="Aptos"/>
              </a:rPr>
              <a:t>Four numbers tell the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07008"/>
            <a:ext cx="10515600" cy="3657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B6C7E"/>
                </a:solidFill>
                <a:latin typeface="Aptos"/>
              </a:rPr>
              <a:t>These are the strongest signals in the supplied dataset.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246888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2468880" cy="50292"/>
          </a:xfrm>
          <a:prstGeom prst="rect">
            <a:avLst/>
          </a:prstGeom>
          <a:solidFill>
            <a:srgbClr val="18A0A6"/>
          </a:solidFill>
          <a:ln>
            <a:solidFill>
              <a:srgbClr val="18A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947672"/>
            <a:ext cx="2139696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E1F35"/>
                </a:solidFill>
                <a:latin typeface="Aptos"/>
              </a:rPr>
              <a:t>59.7%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496312"/>
            <a:ext cx="2139696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5B6C7E"/>
                </a:solidFill>
                <a:latin typeface="Aptos"/>
              </a:rPr>
              <a:t>overall adoption in 2026*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783080"/>
            <a:ext cx="246888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46120" y="1783080"/>
            <a:ext cx="2468880" cy="50292"/>
          </a:xfrm>
          <a:prstGeom prst="rect">
            <a:avLst/>
          </a:prstGeom>
          <a:solidFill>
            <a:srgbClr val="EB8E43"/>
          </a:solidFill>
          <a:ln>
            <a:solidFill>
              <a:srgbClr val="EB8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0712" y="1947672"/>
            <a:ext cx="2139696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E1F35"/>
                </a:solidFill>
                <a:latin typeface="Aptos"/>
              </a:rPr>
              <a:t>12.0 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0712" y="2496312"/>
            <a:ext cx="2139696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5B6C7E"/>
                </a:solidFill>
                <a:latin typeface="Aptos"/>
              </a:rPr>
              <a:t>urban–rural gap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7880" y="1783080"/>
            <a:ext cx="246888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97880" y="1783080"/>
            <a:ext cx="2468880" cy="50292"/>
          </a:xfrm>
          <a:prstGeom prst="rect">
            <a:avLst/>
          </a:prstGeom>
          <a:solidFill>
            <a:srgbClr val="3463AD"/>
          </a:solidFill>
          <a:ln>
            <a:solidFill>
              <a:srgbClr val="3463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62472" y="1947672"/>
            <a:ext cx="2139696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E1F35"/>
                </a:solidFill>
                <a:latin typeface="Aptos"/>
              </a:rPr>
              <a:t>363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62472" y="2496312"/>
            <a:ext cx="2139696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5B6C7E"/>
                </a:solidFill>
                <a:latin typeface="Aptos"/>
              </a:rPr>
              <a:t>records with ChatGPT as top tool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49640" y="1783080"/>
            <a:ext cx="246888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49640" y="1783080"/>
            <a:ext cx="2468880" cy="50292"/>
          </a:xfrm>
          <a:prstGeom prst="rect">
            <a:avLst/>
          </a:prstGeom>
          <a:solidFill>
            <a:srgbClr val="389769"/>
          </a:solidFill>
          <a:ln>
            <a:solidFill>
              <a:srgbClr val="389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14232" y="1947672"/>
            <a:ext cx="2139696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E1F35"/>
                </a:solidFill>
                <a:latin typeface="Aptos"/>
              </a:rPr>
              <a:t>32.8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14232" y="2496312"/>
            <a:ext cx="2139696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5B6C7E"/>
                </a:solidFill>
                <a:latin typeface="Aptos"/>
              </a:rPr>
              <a:t>average daily AI use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474720"/>
            <a:ext cx="548640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703320"/>
            <a:ext cx="219456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8A0A6"/>
                </a:solidFill>
                <a:latin typeface="Aptos"/>
              </a:rPr>
              <a:t>WHO IS ADOPTING?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133087"/>
            <a:ext cx="91440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12E3D"/>
                </a:solidFill>
                <a:latin typeface="Aptos"/>
              </a:rPr>
              <a:t>Student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28800" y="4142231"/>
            <a:ext cx="3200400" cy="146304"/>
          </a:xfrm>
          <a:prstGeom prst="roundRect">
            <a:avLst>
              <a:gd name="adj" fmla="val 12000"/>
            </a:avLst>
          </a:prstGeom>
          <a:solidFill>
            <a:srgbClr val="E0E8F0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828800" y="4142231"/>
            <a:ext cx="2834640" cy="146304"/>
          </a:xfrm>
          <a:prstGeom prst="roundRect">
            <a:avLst>
              <a:gd name="adj" fmla="val 12000"/>
            </a:avLst>
          </a:prstGeom>
          <a:solidFill>
            <a:srgbClr val="18A0A6"/>
          </a:solidFill>
          <a:ln>
            <a:solidFill>
              <a:srgbClr val="18A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80" y="4096511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0E1F35"/>
                </a:solidFill>
                <a:latin typeface="Aptos"/>
              </a:rPr>
              <a:t>31.0%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526279"/>
            <a:ext cx="91440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12E3D"/>
                </a:solidFill>
                <a:latin typeface="Aptos"/>
              </a:rPr>
              <a:t>Teacher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28800" y="4535423"/>
            <a:ext cx="3200400" cy="146304"/>
          </a:xfrm>
          <a:prstGeom prst="roundRect">
            <a:avLst>
              <a:gd name="adj" fmla="val 12000"/>
            </a:avLst>
          </a:prstGeom>
          <a:solidFill>
            <a:srgbClr val="E0E8F0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828800" y="4535423"/>
            <a:ext cx="2734056" cy="146304"/>
          </a:xfrm>
          <a:prstGeom prst="roundRect">
            <a:avLst>
              <a:gd name="adj" fmla="val 12000"/>
            </a:avLst>
          </a:prstGeom>
          <a:solidFill>
            <a:srgbClr val="3463AD"/>
          </a:solidFill>
          <a:ln>
            <a:solidFill>
              <a:srgbClr val="3463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80" y="4489703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0E1F35"/>
                </a:solidFill>
                <a:latin typeface="Aptos"/>
              </a:rPr>
              <a:t>29.9%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4919472"/>
            <a:ext cx="91440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12E3D"/>
                </a:solidFill>
                <a:latin typeface="Aptos"/>
              </a:rPr>
              <a:t>School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828800" y="4928616"/>
            <a:ext cx="3200400" cy="146304"/>
          </a:xfrm>
          <a:prstGeom prst="roundRect">
            <a:avLst>
              <a:gd name="adj" fmla="val 12000"/>
            </a:avLst>
          </a:prstGeom>
          <a:solidFill>
            <a:srgbClr val="E0E8F0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828800" y="4928616"/>
            <a:ext cx="2688336" cy="146304"/>
          </a:xfrm>
          <a:prstGeom prst="roundRect">
            <a:avLst>
              <a:gd name="adj" fmla="val 12000"/>
            </a:avLst>
          </a:prstGeom>
          <a:solidFill>
            <a:srgbClr val="EB8E43"/>
          </a:solidFill>
          <a:ln>
            <a:solidFill>
              <a:srgbClr val="EB8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12080" y="4882896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0E1F35"/>
                </a:solidFill>
                <a:latin typeface="Aptos"/>
              </a:rPr>
              <a:t>29.4%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3474720"/>
            <a:ext cx="4617720" cy="2057400"/>
          </a:xfrm>
          <a:prstGeom prst="roundRect">
            <a:avLst>
              <a:gd name="adj" fmla="val 12000"/>
            </a:avLst>
          </a:prstGeom>
          <a:solidFill>
            <a:srgbClr val="0E1F35"/>
          </a:solidFill>
          <a:ln>
            <a:solidFill>
              <a:srgbClr val="0E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29400" y="370332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8A0A6"/>
                </a:solidFill>
                <a:latin typeface="Aptos"/>
              </a:rPr>
              <a:t>WHAT STANDS OUT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4069080"/>
            <a:ext cx="3931920" cy="12344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FFFFFF"/>
                </a:solidFill>
                <a:latin typeface="Aptos"/>
              </a:defRPr>
            </a:pPr>
            <a:r>
              <a:t>•  Adoption rises from 4.1% in 2015 to 59.7% in 2026.</a:t>
            </a:r>
          </a:p>
          <a:p>
            <a:pPr>
              <a:spcAft>
                <a:spcPts val="500"/>
              </a:spcAft>
              <a:defRPr sz="1000">
                <a:solidFill>
                  <a:srgbClr val="FFFFFF"/>
                </a:solidFill>
                <a:latin typeface="Aptos"/>
              </a:defRPr>
            </a:pPr>
            <a:r>
              <a:t>•  Country/region differences are small: under 0.5 point.</a:t>
            </a:r>
          </a:p>
          <a:p>
            <a:pPr>
              <a:spcAft>
                <a:spcPts val="500"/>
              </a:spcAft>
              <a:defRPr sz="1000">
                <a:solidFill>
                  <a:srgbClr val="FFFFFF"/>
                </a:solidFill>
                <a:latin typeface="Aptos"/>
              </a:defRPr>
            </a:pPr>
            <a:r>
              <a:t>•  Internet penetration and education index show near-zero correlation.</a:t>
            </a:r>
          </a:p>
          <a:p>
            <a:pPr>
              <a:spcAft>
                <a:spcPts val="500"/>
              </a:spcAft>
              <a:defRPr sz="1000">
                <a:solidFill>
                  <a:srgbClr val="FFFFFF"/>
                </a:solidFill>
                <a:latin typeface="Aptos"/>
              </a:defRPr>
            </a:pPr>
            <a:r>
              <a:t>•  AI in curriculum: 30.4% vs 29.8% adoption.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806440"/>
            <a:ext cx="22860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7E"/>
                </a:solidFill>
                <a:latin typeface="Aptos"/>
              </a:rPr>
              <a:t>* 2026 is partial: 40 records.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6547104"/>
            <a:ext cx="457200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8796A4"/>
                </a:solidFill>
                <a:latin typeface="Aptos"/>
              </a:rPr>
              <a:t>06  /  GLOBAL AI IN EDUCATION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052560" y="6629400"/>
            <a:ext cx="2514600" cy="0"/>
          </a:xfrm>
          <a:prstGeom prst="line">
            <a:avLst/>
          </a:prstGeom>
          <a:ln w="10160">
            <a:solidFill>
              <a:srgbClr val="8796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32004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8A0A6"/>
                </a:solidFill>
                <a:latin typeface="Aptos"/>
              </a:rPr>
              <a:t>06 /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789920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E1F35"/>
                </a:solidFill>
                <a:latin typeface="Aptos"/>
              </a:rPr>
              <a:t>Adoption accelerates steadily over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07008"/>
            <a:ext cx="10515600" cy="3657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B6C7E"/>
                </a:solidFill>
                <a:latin typeface="Aptos"/>
              </a:rPr>
              <a:t>Overall AI adoption rises from 4.1% in 2015 to 59.7% in 2026*.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94360" y="1737360"/>
          <a:ext cx="7498079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366760" y="1737360"/>
            <a:ext cx="2743200" cy="4251960"/>
          </a:xfrm>
          <a:prstGeom prst="roundRect">
            <a:avLst>
              <a:gd name="adj" fmla="val 12000"/>
            </a:avLst>
          </a:prstGeom>
          <a:solidFill>
            <a:srgbClr val="0E1F35"/>
          </a:solidFill>
          <a:ln>
            <a:solidFill>
              <a:srgbClr val="0E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68512" y="2057400"/>
            <a:ext cx="210312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8A0A6"/>
                </a:solidFill>
                <a:latin typeface="Aptos"/>
              </a:rPr>
              <a:t>READ IT LIKE A 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8512" y="2606040"/>
            <a:ext cx="9144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AAC2D6"/>
                </a:solidFill>
                <a:latin typeface="Aptos"/>
              </a:rPr>
              <a:t>2015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8512" y="2852928"/>
            <a:ext cx="146304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4.1%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68512" y="3520440"/>
            <a:ext cx="2075688" cy="0"/>
          </a:xfrm>
          <a:prstGeom prst="line">
            <a:avLst/>
          </a:prstGeom>
          <a:ln w="12700">
            <a:solidFill>
              <a:srgbClr val="3E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668512" y="3840480"/>
            <a:ext cx="9144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AAC2D6"/>
                </a:solidFill>
                <a:latin typeface="Aptos"/>
              </a:rPr>
              <a:t>2026*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68512" y="4087368"/>
            <a:ext cx="16459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4ECACF"/>
                </a:solidFill>
                <a:latin typeface="Aptos"/>
              </a:rPr>
              <a:t>59.7%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00600"/>
            <a:ext cx="2057400" cy="5486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+55.6 percentage points</a:t>
            </a:r>
            <a:br/>
            <a:r>
              <a:t>across the observed period.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144768"/>
            <a:ext cx="201168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7E"/>
                </a:solidFill>
                <a:latin typeface="Aptos"/>
              </a:rPr>
              <a:t>* Partial year: 40 records.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47104"/>
            <a:ext cx="457200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8796A4"/>
                </a:solidFill>
                <a:latin typeface="Aptos"/>
              </a:rPr>
              <a:t>07  /  GLOBAL AI IN EDUCATION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052560" y="6629400"/>
            <a:ext cx="2514600" cy="0"/>
          </a:xfrm>
          <a:prstGeom prst="line">
            <a:avLst/>
          </a:prstGeom>
          <a:ln w="10160">
            <a:solidFill>
              <a:srgbClr val="8796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32004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8A0A6"/>
                </a:solidFill>
                <a:latin typeface="Aptos"/>
              </a:rPr>
              <a:t>07 /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789920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E1F35"/>
                </a:solidFill>
                <a:latin typeface="Aptos"/>
              </a:rPr>
              <a:t>What the data suggests doing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07008"/>
            <a:ext cx="10515600" cy="3657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B6C7E"/>
                </a:solidFill>
                <a:latin typeface="Aptos"/>
              </a:rPr>
              <a:t>Recommendations are tied directly to the gaps and patterns visible in the dataset.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333756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984248"/>
            <a:ext cx="457200" cy="457200"/>
          </a:xfrm>
          <a:prstGeom prst="ellipse">
            <a:avLst/>
          </a:prstGeom>
          <a:solidFill>
            <a:srgbClr val="18A0A6"/>
          </a:solidFill>
          <a:ln>
            <a:solidFill>
              <a:srgbClr val="18A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02536"/>
            <a:ext cx="457200" cy="43891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965960"/>
            <a:ext cx="224028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E1F35"/>
                </a:solidFill>
                <a:latin typeface="Aptos"/>
              </a:rPr>
              <a:t>RURAL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96312"/>
            <a:ext cx="2834640" cy="6400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212E3D"/>
                </a:solidFill>
                <a:latin typeface="Aptos"/>
              </a:rPr>
              <a:t>Improve AI resources and infrastructure where the urban–rural gap is largest.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783080"/>
            <a:ext cx="333756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434840" y="1984248"/>
            <a:ext cx="457200" cy="457200"/>
          </a:xfrm>
          <a:prstGeom prst="ellipse">
            <a:avLst/>
          </a:prstGeom>
          <a:solidFill>
            <a:srgbClr val="3463AD"/>
          </a:solidFill>
          <a:ln>
            <a:solidFill>
              <a:srgbClr val="3463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002536"/>
            <a:ext cx="457200" cy="43891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1965960"/>
            <a:ext cx="224028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E1F35"/>
                </a:solidFill>
                <a:latin typeface="Aptos"/>
              </a:rPr>
              <a:t>TEACHER ADOPTION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496312"/>
            <a:ext cx="2834640" cy="6400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212E3D"/>
                </a:solidFill>
                <a:latin typeface="Aptos"/>
              </a:rPr>
              <a:t>Offer training and professional development because students are slightly ahead.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60" y="1783080"/>
            <a:ext cx="333756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92440" y="1984248"/>
            <a:ext cx="457200" cy="457200"/>
          </a:xfrm>
          <a:prstGeom prst="ellipse">
            <a:avLst/>
          </a:prstGeom>
          <a:solidFill>
            <a:srgbClr val="EB8E43"/>
          </a:solidFill>
          <a:ln>
            <a:solidFill>
              <a:srgbClr val="EB8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2440" y="2002536"/>
            <a:ext cx="457200" cy="43891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1965960"/>
            <a:ext cx="224028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E1F35"/>
                </a:solidFill>
                <a:latin typeface="Aptos"/>
              </a:rPr>
              <a:t>CURRICULUM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496312"/>
            <a:ext cx="2834640" cy="6400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212E3D"/>
                </a:solidFill>
                <a:latin typeface="Aptos"/>
              </a:rPr>
              <a:t>Teach AI literacy, responsible use, output evaluation and academic integrity.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703320"/>
            <a:ext cx="333756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7240" y="3904487"/>
            <a:ext cx="457200" cy="457200"/>
          </a:xfrm>
          <a:prstGeom prst="ellipse">
            <a:avLst/>
          </a:prstGeom>
          <a:solidFill>
            <a:srgbClr val="389769"/>
          </a:solidFill>
          <a:ln>
            <a:solidFill>
              <a:srgbClr val="389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922775"/>
            <a:ext cx="457200" cy="43891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886200"/>
            <a:ext cx="224028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E1F35"/>
                </a:solidFill>
                <a:latin typeface="Aptos"/>
              </a:rPr>
              <a:t>CLEAR POLICIES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416552"/>
            <a:ext cx="2834640" cy="6400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212E3D"/>
                </a:solidFill>
                <a:latin typeface="Aptos"/>
              </a:rPr>
              <a:t>Maintain clear, current AI-use policies; policy data is incomplete.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51960" y="3703320"/>
            <a:ext cx="333756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434840" y="3904487"/>
            <a:ext cx="457200" cy="457200"/>
          </a:xfrm>
          <a:prstGeom prst="ellipse">
            <a:avLst/>
          </a:prstGeom>
          <a:solidFill>
            <a:srgbClr val="4ECACF"/>
          </a:solidFill>
          <a:ln>
            <a:solidFill>
              <a:srgbClr val="4EC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4840" y="3922775"/>
            <a:ext cx="457200" cy="43891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3886200"/>
            <a:ext cx="224028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E1F35"/>
                </a:solidFill>
                <a:latin typeface="Aptos"/>
              </a:rPr>
              <a:t>EQUITY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4416552"/>
            <a:ext cx="2834640" cy="6400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212E3D"/>
                </a:solidFill>
                <a:latin typeface="Aptos"/>
              </a:rPr>
              <a:t>Track gender and urban–rural gaps, not only overall adoption.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09560" y="3703320"/>
            <a:ext cx="333756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92440" y="3904487"/>
            <a:ext cx="457200" cy="457200"/>
          </a:xfrm>
          <a:prstGeom prst="ellipse">
            <a:avLst/>
          </a:prstGeom>
          <a:solidFill>
            <a:srgbClr val="CC5252"/>
          </a:solidFill>
          <a:ln>
            <a:solidFill>
              <a:srgbClr val="CC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92440" y="3922775"/>
            <a:ext cx="457200" cy="43891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3886200"/>
            <a:ext cx="224028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E1F35"/>
                </a:solidFill>
                <a:latin typeface="Aptos"/>
              </a:rPr>
              <a:t>MONITOR TOOLS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4416552"/>
            <a:ext cx="2834640" cy="6400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212E3D"/>
                </a:solidFill>
                <a:latin typeface="Aptos"/>
              </a:rPr>
              <a:t>Judge tools by value, privacy, security, cost and accessibility — not popularity alone.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47104"/>
            <a:ext cx="457200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8796A4"/>
                </a:solidFill>
                <a:latin typeface="Aptos"/>
              </a:rPr>
              <a:t>08  /  GLOBAL AI IN EDUCATION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052560" y="6629400"/>
            <a:ext cx="2514600" cy="0"/>
          </a:xfrm>
          <a:prstGeom prst="line">
            <a:avLst/>
          </a:prstGeom>
          <a:ln w="10160">
            <a:solidFill>
              <a:srgbClr val="8796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32004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8A0A6"/>
                </a:solidFill>
                <a:latin typeface="Aptos"/>
              </a:rPr>
              <a:t>08 /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789920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E1F35"/>
                </a:solidFill>
                <a:latin typeface="Aptos"/>
              </a:rPr>
              <a:t>Strong signals, careful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07008"/>
            <a:ext cx="10515600" cy="3657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B6C7E"/>
                </a:solidFill>
                <a:latin typeface="Aptos"/>
              </a:rPr>
              <a:t>The dashboard is useful for pattern-finding, not for proving causation or global coverage.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5074920" cy="114300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50292" cy="1143000"/>
          </a:xfrm>
          <a:prstGeom prst="rect">
            <a:avLst/>
          </a:prstGeom>
          <a:solidFill>
            <a:srgbClr val="EB8E43"/>
          </a:solidFill>
          <a:ln>
            <a:solidFill>
              <a:srgbClr val="EB8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47672"/>
            <a:ext cx="475488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E1F35"/>
                </a:solidFill>
                <a:latin typeface="Aptos"/>
              </a:rPr>
              <a:t>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04288"/>
            <a:ext cx="475488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212E3D"/>
                </a:solidFill>
                <a:latin typeface="Aptos"/>
              </a:rPr>
              <a:t>Only 10 countries are represented; this is not every country worldwide.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783080"/>
            <a:ext cx="5074920" cy="114300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1783080"/>
            <a:ext cx="50292" cy="1143000"/>
          </a:xfrm>
          <a:prstGeom prst="rect">
            <a:avLst/>
          </a:prstGeom>
          <a:solidFill>
            <a:srgbClr val="CC5252"/>
          </a:solidFill>
          <a:ln>
            <a:solidFill>
              <a:srgbClr val="CC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947672"/>
            <a:ext cx="475488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E1F35"/>
                </a:solidFill>
                <a:latin typeface="Aptos"/>
              </a:rPr>
              <a:t>MISSING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304288"/>
            <a:ext cx="475488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212E3D"/>
                </a:solidFill>
                <a:latin typeface="Aptos"/>
              </a:rPr>
              <a:t>441 records (32.4%) lack government-policy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200400"/>
            <a:ext cx="5074920" cy="114300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3200400"/>
            <a:ext cx="50292" cy="1143000"/>
          </a:xfrm>
          <a:prstGeom prst="rect">
            <a:avLst/>
          </a:prstGeom>
          <a:solidFill>
            <a:srgbClr val="3463AD"/>
          </a:solidFill>
          <a:ln>
            <a:solidFill>
              <a:srgbClr val="3463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364992"/>
            <a:ext cx="475488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E1F35"/>
                </a:solidFill>
                <a:latin typeface="Aptos"/>
              </a:rPr>
              <a:t>PARTIAL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721608"/>
            <a:ext cx="475488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212E3D"/>
                </a:solidFill>
                <a:latin typeface="Aptos"/>
              </a:rPr>
              <a:t>2026 has 40 records vs 120 per earlier year.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3200400"/>
            <a:ext cx="5074920" cy="114300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3200400"/>
            <a:ext cx="50292" cy="1143000"/>
          </a:xfrm>
          <a:prstGeom prst="rect">
            <a:avLst/>
          </a:prstGeom>
          <a:solidFill>
            <a:srgbClr val="18A0A6"/>
          </a:solidFill>
          <a:ln>
            <a:solidFill>
              <a:srgbClr val="18A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3364992"/>
            <a:ext cx="475488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E1F35"/>
                </a:solidFill>
                <a:latin typeface="Aptos"/>
              </a:rPr>
              <a:t>MEASURES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721608"/>
            <a:ext cx="475488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212E3D"/>
                </a:solidFill>
                <a:latin typeface="Aptos"/>
              </a:rPr>
              <a:t>Overall Adoption is custom; tool counts are top-tool frequency, not market share.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617720"/>
            <a:ext cx="5074920" cy="114300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4617720"/>
            <a:ext cx="50292" cy="1143000"/>
          </a:xfrm>
          <a:prstGeom prst="rect">
            <a:avLst/>
          </a:prstGeom>
          <a:solidFill>
            <a:srgbClr val="389769"/>
          </a:solidFill>
          <a:ln>
            <a:solidFill>
              <a:srgbClr val="389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782312"/>
            <a:ext cx="475488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E1F35"/>
                </a:solidFill>
                <a:latin typeface="Aptos"/>
              </a:rPr>
              <a:t>OBSERVATIONAL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138928"/>
            <a:ext cx="475488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212E3D"/>
                </a:solidFill>
                <a:latin typeface="Aptos"/>
              </a:rPr>
              <a:t>The data shows relationships, not causal effects.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5040" y="4617720"/>
            <a:ext cx="5074920" cy="114300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35040" y="4617720"/>
            <a:ext cx="50292" cy="1143000"/>
          </a:xfrm>
          <a:prstGeom prst="rect">
            <a:avLst/>
          </a:prstGeom>
          <a:solidFill>
            <a:srgbClr val="4ECACF"/>
          </a:solidFill>
          <a:ln>
            <a:solidFill>
              <a:srgbClr val="4EC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4782312"/>
            <a:ext cx="475488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E1F35"/>
                </a:solidFill>
                <a:latin typeface="Aptos"/>
              </a:rPr>
              <a:t>GENDER GAP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5138928"/>
            <a:ext cx="475488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212E3D"/>
                </a:solidFill>
                <a:latin typeface="Aptos"/>
              </a:rPr>
              <a:t>Direction is undocumented, so no claim is made about which gender uses AI more.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6080760"/>
            <a:ext cx="10378440" cy="320040"/>
          </a:xfrm>
          <a:prstGeom prst="roundRect">
            <a:avLst>
              <a:gd name="adj" fmla="val 12000"/>
            </a:avLst>
          </a:prstGeom>
          <a:solidFill>
            <a:srgbClr val="0E1F35"/>
          </a:solidFill>
          <a:ln>
            <a:solidFill>
              <a:srgbClr val="0E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6135624"/>
            <a:ext cx="68580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BOTTOM LINE  •  Interpret trends within the dataset’s limits.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47104"/>
            <a:ext cx="457200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8796A4"/>
                </a:solidFill>
                <a:latin typeface="Aptos"/>
              </a:rPr>
              <a:t>09  /  GLOBAL AI IN EDUCATION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052560" y="6629400"/>
            <a:ext cx="2514600" cy="0"/>
          </a:xfrm>
          <a:prstGeom prst="line">
            <a:avLst/>
          </a:prstGeom>
          <a:ln w="10160">
            <a:solidFill>
              <a:srgbClr val="8796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F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32004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8A0A6"/>
                </a:solidFill>
                <a:latin typeface="Aptos"/>
              </a:rPr>
              <a:t>09 /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789920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The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07008"/>
            <a:ext cx="10515600" cy="3657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B7CDE2"/>
                </a:solidFill>
                <a:latin typeface="Aptos"/>
              </a:rPr>
              <a:t>AI adoption is rising fast — but successful integration needs access, readiness, curriculum and equity.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3246120" cy="1965960"/>
          </a:xfrm>
          <a:prstGeom prst="roundRect">
            <a:avLst>
              <a:gd name="adj" fmla="val 12000"/>
            </a:avLst>
          </a:prstGeom>
          <a:solidFill>
            <a:srgbClr val="18314F"/>
          </a:solidFill>
          <a:ln>
            <a:solidFill>
              <a:srgbClr val="183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2148840"/>
            <a:ext cx="530352" cy="530352"/>
          </a:xfrm>
          <a:prstGeom prst="ellipse">
            <a:avLst/>
          </a:prstGeom>
          <a:solidFill>
            <a:srgbClr val="18A0A6"/>
          </a:solidFill>
          <a:ln>
            <a:solidFill>
              <a:srgbClr val="18A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67128"/>
            <a:ext cx="530352" cy="512063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16352"/>
            <a:ext cx="265176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ADOPTION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18688"/>
            <a:ext cx="269748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DDCEB"/>
                </a:solidFill>
                <a:latin typeface="Aptos"/>
              </a:rPr>
              <a:t>Strong upward trend from 2015 to the latest observations.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874519"/>
            <a:ext cx="3246120" cy="1965960"/>
          </a:xfrm>
          <a:prstGeom prst="roundRect">
            <a:avLst>
              <a:gd name="adj" fmla="val 12000"/>
            </a:avLst>
          </a:prstGeom>
          <a:solidFill>
            <a:srgbClr val="18314F"/>
          </a:solidFill>
          <a:ln>
            <a:solidFill>
              <a:srgbClr val="183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480560" y="2148840"/>
            <a:ext cx="530352" cy="530352"/>
          </a:xfrm>
          <a:prstGeom prst="ellipse">
            <a:avLst/>
          </a:prstGeom>
          <a:solidFill>
            <a:srgbClr val="EB8E43"/>
          </a:solidFill>
          <a:ln>
            <a:solidFill>
              <a:srgbClr val="EB8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2167128"/>
            <a:ext cx="530352" cy="512063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816352"/>
            <a:ext cx="265176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EQUITY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218688"/>
            <a:ext cx="269748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DDCEB"/>
                </a:solidFill>
                <a:latin typeface="Aptos"/>
              </a:rPr>
              <a:t>Urban–rural access is a larger gap than country-level differences.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60" y="1874519"/>
            <a:ext cx="3246120" cy="1965960"/>
          </a:xfrm>
          <a:prstGeom prst="roundRect">
            <a:avLst>
              <a:gd name="adj" fmla="val 12000"/>
            </a:avLst>
          </a:prstGeom>
          <a:solidFill>
            <a:srgbClr val="18314F"/>
          </a:solidFill>
          <a:ln>
            <a:solidFill>
              <a:srgbClr val="183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138160" y="2148840"/>
            <a:ext cx="530352" cy="530352"/>
          </a:xfrm>
          <a:prstGeom prst="ellipse">
            <a:avLst/>
          </a:prstGeom>
          <a:solidFill>
            <a:srgbClr val="4ECACF"/>
          </a:solidFill>
          <a:ln>
            <a:solidFill>
              <a:srgbClr val="4EC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2167128"/>
            <a:ext cx="530352" cy="512063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816352"/>
            <a:ext cx="265176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READINESS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3218688"/>
            <a:ext cx="269748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DDCEB"/>
                </a:solidFill>
                <a:latin typeface="Aptos"/>
              </a:rPr>
              <a:t>Teacher support, curriculum and policy must keep pace.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343400"/>
            <a:ext cx="10561320" cy="1143000"/>
          </a:xfrm>
          <a:prstGeom prst="roundRect">
            <a:avLst>
              <a:gd name="adj" fmla="val 12000"/>
            </a:avLst>
          </a:prstGeom>
          <a:solidFill>
            <a:srgbClr val="143A52"/>
          </a:solidFill>
          <a:ln>
            <a:solidFill>
              <a:srgbClr val="14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645152"/>
            <a:ext cx="996696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“The goal is not simply more AI — it is better, fairer and more prepared AI use in education.”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806440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AFC7DB"/>
                </a:solidFill>
                <a:latin typeface="Aptos"/>
              </a:rPr>
              <a:t>Project basis: 1,360 records • 16 fields • 10 countries • 2015–2026*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04120" y="6108192"/>
            <a:ext cx="91440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96B2CA"/>
                </a:solidFill>
                <a:latin typeface="Aptos"/>
              </a:rPr>
              <a:t>* 2026 is partial.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47104"/>
            <a:ext cx="457200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9EB5CD"/>
                </a:solidFill>
                <a:latin typeface="Aptos"/>
              </a:rPr>
              <a:t>10  /  GLOBAL AI IN EDUCATION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052560" y="6629400"/>
            <a:ext cx="2514600" cy="0"/>
          </a:xfrm>
          <a:prstGeom prst="line">
            <a:avLst/>
          </a:prstGeom>
          <a:ln w="10160">
            <a:solidFill>
              <a:srgbClr val="9EB5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